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 id="263" r:id="rId10"/>
    <p:sldId id="266" r:id="rId11"/>
    <p:sldId id="267" r:id="rId12"/>
    <p:sldId id="265"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angpeng Liu" initials="GL" lastIdx="1" clrIdx="0">
    <p:extLst>
      <p:ext uri="{19B8F6BF-5375-455C-9EA6-DF929625EA0E}">
        <p15:presenceInfo xmlns:p15="http://schemas.microsoft.com/office/powerpoint/2012/main" userId="9b613e42954d85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snapToObjects="1">
      <p:cViewPr varScale="1">
        <p:scale>
          <a:sx n="87" d="100"/>
          <a:sy n="87" d="100"/>
        </p:scale>
        <p:origin x="194" y="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12/7/2020</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12/7/2020</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12/7/2020</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12/7/2020</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12/7/2020</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12/7/2020</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12/7/2020</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21176-62EA-764F-8BBB-59F99CFD6F12}"/>
              </a:ext>
            </a:extLst>
          </p:cNvPr>
          <p:cNvSpPr>
            <a:spLocks noGrp="1"/>
          </p:cNvSpPr>
          <p:nvPr>
            <p:ph type="ctrTitle"/>
          </p:nvPr>
        </p:nvSpPr>
        <p:spPr>
          <a:xfrm>
            <a:off x="1371600" y="1376022"/>
            <a:ext cx="9448800" cy="1825096"/>
          </a:xfrm>
        </p:spPr>
        <p:txBody>
          <a:bodyPr>
            <a:normAutofit/>
          </a:bodyPr>
          <a:lstStyle/>
          <a:p>
            <a:r>
              <a:rPr lang="en-US" altLang="zh-CN" sz="4000" dirty="0"/>
              <a:t>Time</a:t>
            </a:r>
            <a:r>
              <a:rPr lang="zh-CN" altLang="en-US" sz="4000" dirty="0"/>
              <a:t> </a:t>
            </a:r>
            <a:r>
              <a:rPr lang="en-US" altLang="zh-CN" sz="4000" dirty="0"/>
              <a:t>series</a:t>
            </a:r>
            <a:r>
              <a:rPr lang="zh-CN" altLang="en-US" sz="4000" dirty="0"/>
              <a:t> </a:t>
            </a:r>
            <a:r>
              <a:rPr lang="en-US" altLang="zh-CN" sz="4000" dirty="0"/>
              <a:t>forecasting</a:t>
            </a:r>
            <a:r>
              <a:rPr lang="zh-CN" altLang="en-US" sz="4000" dirty="0"/>
              <a:t> </a:t>
            </a:r>
            <a:r>
              <a:rPr lang="en-US" altLang="zh-CN" sz="4000" dirty="0"/>
              <a:t>USING</a:t>
            </a:r>
            <a:r>
              <a:rPr lang="zh-CN" altLang="en-US" sz="4000" dirty="0"/>
              <a:t> </a:t>
            </a:r>
            <a:r>
              <a:rPr lang="en-US" altLang="zh-CN" sz="4000" dirty="0"/>
              <a:t>LSTM</a:t>
            </a:r>
            <a:r>
              <a:rPr lang="zh-CN" altLang="en-US" sz="4000" dirty="0"/>
              <a:t> </a:t>
            </a:r>
            <a:r>
              <a:rPr lang="en-US" altLang="zh-CN" sz="4000" dirty="0"/>
              <a:t>AND</a:t>
            </a:r>
            <a:r>
              <a:rPr lang="zh-CN" altLang="en-US" sz="4000" dirty="0"/>
              <a:t> </a:t>
            </a:r>
            <a:r>
              <a:rPr lang="en-US" altLang="zh-CN" sz="4000" dirty="0"/>
              <a:t>SARIMA</a:t>
            </a:r>
            <a:endParaRPr lang="en-US" sz="4000" dirty="0"/>
          </a:p>
        </p:txBody>
      </p:sp>
      <p:sp>
        <p:nvSpPr>
          <p:cNvPr id="3" name="Subtitle 2">
            <a:extLst>
              <a:ext uri="{FF2B5EF4-FFF2-40B4-BE49-F238E27FC236}">
                <a16:creationId xmlns:a16="http://schemas.microsoft.com/office/drawing/2014/main" id="{8F46FA26-9D82-BE4E-AC96-11C4C377AAEF}"/>
              </a:ext>
            </a:extLst>
          </p:cNvPr>
          <p:cNvSpPr>
            <a:spLocks noGrp="1"/>
          </p:cNvSpPr>
          <p:nvPr>
            <p:ph type="subTitle" idx="1"/>
          </p:nvPr>
        </p:nvSpPr>
        <p:spPr>
          <a:xfrm>
            <a:off x="2105758" y="3656883"/>
            <a:ext cx="9448800" cy="685800"/>
          </a:xfrm>
        </p:spPr>
        <p:txBody>
          <a:bodyPr/>
          <a:lstStyle/>
          <a:p>
            <a:r>
              <a:rPr lang="en-US" altLang="zh-CN" dirty="0"/>
              <a:t>An</a:t>
            </a:r>
            <a:r>
              <a:rPr lang="zh-CN" altLang="en-US" dirty="0"/>
              <a:t> </a:t>
            </a:r>
            <a:r>
              <a:rPr lang="en-US" altLang="zh-CN" dirty="0"/>
              <a:t>example</a:t>
            </a:r>
            <a:r>
              <a:rPr lang="zh-CN" altLang="en-US" dirty="0"/>
              <a:t> </a:t>
            </a:r>
            <a:r>
              <a:rPr lang="en-US" altLang="zh-CN" dirty="0"/>
              <a:t>of</a:t>
            </a:r>
            <a:r>
              <a:rPr lang="zh-CN" altLang="en-US" dirty="0"/>
              <a:t> </a:t>
            </a:r>
            <a:r>
              <a:rPr lang="en-US" altLang="zh-CN" dirty="0"/>
              <a:t>vehicle</a:t>
            </a:r>
            <a:r>
              <a:rPr lang="zh-CN" altLang="en-US" dirty="0"/>
              <a:t> </a:t>
            </a:r>
            <a:r>
              <a:rPr lang="en-US" altLang="zh-CN" dirty="0"/>
              <a:t>trip</a:t>
            </a:r>
            <a:r>
              <a:rPr lang="zh-CN" altLang="en-US" dirty="0"/>
              <a:t> </a:t>
            </a:r>
            <a:r>
              <a:rPr lang="en-US" altLang="zh-CN" dirty="0"/>
              <a:t>records</a:t>
            </a:r>
            <a:r>
              <a:rPr lang="zh-CN" altLang="en-US" dirty="0"/>
              <a:t> </a:t>
            </a:r>
            <a:r>
              <a:rPr lang="en-US" altLang="zh-CN" dirty="0"/>
              <a:t>prediction</a:t>
            </a:r>
            <a:r>
              <a:rPr lang="zh-CN" altLang="en-US" dirty="0"/>
              <a:t> </a:t>
            </a:r>
            <a:r>
              <a:rPr lang="en-US" altLang="zh-CN" dirty="0"/>
              <a:t>in</a:t>
            </a:r>
            <a:r>
              <a:rPr lang="zh-CN" altLang="en-US" dirty="0"/>
              <a:t> </a:t>
            </a:r>
            <a:r>
              <a:rPr lang="en-US" altLang="zh-CN" dirty="0"/>
              <a:t>New</a:t>
            </a:r>
            <a:r>
              <a:rPr lang="zh-CN" altLang="en-US" dirty="0"/>
              <a:t> </a:t>
            </a:r>
            <a:r>
              <a:rPr lang="en-US" altLang="zh-CN" dirty="0"/>
              <a:t>York</a:t>
            </a:r>
            <a:r>
              <a:rPr lang="zh-CN" altLang="en-US" dirty="0"/>
              <a:t> </a:t>
            </a:r>
            <a:r>
              <a:rPr lang="en-US" altLang="zh-CN" dirty="0"/>
              <a:t>to</a:t>
            </a:r>
            <a:r>
              <a:rPr lang="zh-CN" altLang="en-US" dirty="0"/>
              <a:t> </a:t>
            </a:r>
            <a:r>
              <a:rPr lang="en-US" altLang="zh-CN" dirty="0"/>
              <a:t>investigate</a:t>
            </a:r>
            <a:r>
              <a:rPr lang="zh-CN" altLang="en-US" dirty="0"/>
              <a:t> </a:t>
            </a:r>
            <a:r>
              <a:rPr lang="en-US" altLang="zh-CN" dirty="0"/>
              <a:t>linear</a:t>
            </a:r>
            <a:r>
              <a:rPr lang="zh-CN" altLang="en-US" dirty="0"/>
              <a:t> </a:t>
            </a:r>
            <a:r>
              <a:rPr lang="en-US" altLang="zh-CN" dirty="0"/>
              <a:t>and</a:t>
            </a:r>
            <a:r>
              <a:rPr lang="zh-CN" altLang="en-US" dirty="0"/>
              <a:t> </a:t>
            </a:r>
            <a:r>
              <a:rPr lang="en-US" altLang="zh-CN" dirty="0"/>
              <a:t>nonlinear</a:t>
            </a:r>
            <a:r>
              <a:rPr lang="zh-CN" altLang="en-US" dirty="0"/>
              <a:t> </a:t>
            </a:r>
            <a:r>
              <a:rPr lang="en-US" altLang="zh-CN" dirty="0"/>
              <a:t>models</a:t>
            </a:r>
            <a:endParaRPr lang="en-US" dirty="0"/>
          </a:p>
        </p:txBody>
      </p:sp>
    </p:spTree>
    <p:extLst>
      <p:ext uri="{BB962C8B-B14F-4D97-AF65-F5344CB8AC3E}">
        <p14:creationId xmlns:p14="http://schemas.microsoft.com/office/powerpoint/2010/main" val="1562662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92E198-D781-004F-A760-B292436C21A9}"/>
              </a:ext>
            </a:extLst>
          </p:cNvPr>
          <p:cNvSpPr>
            <a:spLocks noGrp="1"/>
          </p:cNvSpPr>
          <p:nvPr>
            <p:ph idx="1"/>
          </p:nvPr>
        </p:nvSpPr>
        <p:spPr>
          <a:xfrm>
            <a:off x="6140823" y="1523016"/>
            <a:ext cx="5827822" cy="1822500"/>
          </a:xfrm>
        </p:spPr>
        <p:txBody>
          <a:bodyPr numCol="1">
            <a:noAutofit/>
          </a:bodyPr>
          <a:lstStyle/>
          <a:p>
            <a:pPr>
              <a:lnSpc>
                <a:spcPct val="100000"/>
              </a:lnSpc>
            </a:pPr>
            <a:r>
              <a:rPr lang="en-US" sz="1600" b="0" i="0" dirty="0">
                <a:effectLst/>
              </a:rPr>
              <a:t>The dataset used for time-series prediction </a:t>
            </a:r>
            <a:r>
              <a:rPr lang="en-US" sz="1600" dirty="0"/>
              <a:t>are 1463</a:t>
            </a:r>
            <a:r>
              <a:rPr lang="en-US" sz="1600" b="0" i="0" dirty="0">
                <a:effectLst/>
              </a:rPr>
              <a:t> New York daily For-Hire Vehicle (“FHV”) trip records from year 2015 to mid 2018. Data in late 2018 are dropped due to two obvious spikes, the two outliers can be replaced by mean value to get more data. </a:t>
            </a:r>
          </a:p>
        </p:txBody>
      </p:sp>
      <p:pic>
        <p:nvPicPr>
          <p:cNvPr id="9" name="Picture 8" descr="Chart, line chart&#10;&#10;Description automatically generated">
            <a:extLst>
              <a:ext uri="{FF2B5EF4-FFF2-40B4-BE49-F238E27FC236}">
                <a16:creationId xmlns:a16="http://schemas.microsoft.com/office/drawing/2014/main" id="{8523F0B7-5F8A-45D7-B230-B5EB052517AB}"/>
              </a:ext>
            </a:extLst>
          </p:cNvPr>
          <p:cNvPicPr>
            <a:picLocks noChangeAspect="1"/>
          </p:cNvPicPr>
          <p:nvPr/>
        </p:nvPicPr>
        <p:blipFill rotWithShape="1">
          <a:blip r:embed="rId2">
            <a:duotone>
              <a:schemeClr val="bg2">
                <a:shade val="45000"/>
                <a:satMod val="135000"/>
              </a:schemeClr>
              <a:prstClr val="white"/>
            </a:duotone>
            <a:alphaModFix amt="85000"/>
          </a:blip>
          <a:srcRect l="2648"/>
          <a:stretch/>
        </p:blipFill>
        <p:spPr>
          <a:xfrm>
            <a:off x="1219289" y="3154232"/>
            <a:ext cx="6066076" cy="3291840"/>
          </a:xfrm>
          <a:prstGeom prst="rect">
            <a:avLst/>
          </a:prstGeom>
          <a:effectLst>
            <a:softEdge rad="12700"/>
          </a:effectLst>
          <a:scene3d>
            <a:camera prst="orthographicFront"/>
            <a:lightRig rig="threePt" dir="t"/>
          </a:scene3d>
          <a:sp3d>
            <a:bevelT/>
          </a:sp3d>
        </p:spPr>
      </p:pic>
      <p:sp>
        <p:nvSpPr>
          <p:cNvPr id="10" name="TextBox 9">
            <a:extLst>
              <a:ext uri="{FF2B5EF4-FFF2-40B4-BE49-F238E27FC236}">
                <a16:creationId xmlns:a16="http://schemas.microsoft.com/office/drawing/2014/main" id="{D73C656C-F9E4-482D-8F8E-E77A9930A7CF}"/>
              </a:ext>
            </a:extLst>
          </p:cNvPr>
          <p:cNvSpPr txBox="1"/>
          <p:nvPr/>
        </p:nvSpPr>
        <p:spPr>
          <a:xfrm>
            <a:off x="5846475" y="770189"/>
            <a:ext cx="5385288" cy="523220"/>
          </a:xfrm>
          <a:prstGeom prst="rect">
            <a:avLst/>
          </a:prstGeom>
          <a:noFill/>
        </p:spPr>
        <p:txBody>
          <a:bodyPr wrap="square" rtlCol="0">
            <a:spAutoFit/>
          </a:bodyPr>
          <a:lstStyle/>
          <a:p>
            <a:r>
              <a:rPr lang="en-US" sz="2800" b="1" dirty="0"/>
              <a:t>Data Introduction                        </a:t>
            </a:r>
          </a:p>
        </p:txBody>
      </p:sp>
    </p:spTree>
    <p:extLst>
      <p:ext uri="{BB962C8B-B14F-4D97-AF65-F5344CB8AC3E}">
        <p14:creationId xmlns:p14="http://schemas.microsoft.com/office/powerpoint/2010/main" val="115028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SARIMA</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1" i="0" dirty="0">
                <a:effectLst/>
                <a:latin typeface="+mj-lt"/>
              </a:rPr>
              <a:t>Seasonal Auto Regressive Integrated Moving Average</a:t>
            </a:r>
            <a:endParaRPr lang="en-US" sz="1600" b="1" dirty="0">
              <a:latin typeface="+mj-lt"/>
            </a:endParaRPr>
          </a:p>
        </p:txBody>
      </p:sp>
      <p:sp>
        <p:nvSpPr>
          <p:cNvPr id="6" name="TextBox 5">
            <a:extLst>
              <a:ext uri="{FF2B5EF4-FFF2-40B4-BE49-F238E27FC236}">
                <a16:creationId xmlns:a16="http://schemas.microsoft.com/office/drawing/2014/main" id="{1BA66A7A-D41B-482A-BB74-D44E77CBF070}"/>
              </a:ext>
            </a:extLst>
          </p:cNvPr>
          <p:cNvSpPr txBox="1"/>
          <p:nvPr/>
        </p:nvSpPr>
        <p:spPr>
          <a:xfrm>
            <a:off x="895545" y="2053412"/>
            <a:ext cx="8748076" cy="1815882"/>
          </a:xfrm>
          <a:prstGeom prst="rect">
            <a:avLst/>
          </a:prstGeom>
          <a:noFill/>
          <a:ln>
            <a:solidFill>
              <a:schemeClr val="tx1">
                <a:lumMod val="75000"/>
              </a:schemeClr>
            </a:solidFill>
          </a:ln>
        </p:spPr>
        <p:txBody>
          <a:bodyPr wrap="square" rtlCol="0">
            <a:spAutoFit/>
          </a:bodyPr>
          <a:lstStyle/>
          <a:p>
            <a:pPr algn="l"/>
            <a:r>
              <a:rPr lang="en-US" sz="1600" b="0" i="0" dirty="0">
                <a:effectLst/>
              </a:rPr>
              <a:t>SARIMA is actually a class of models that ‘explains’ a given time series based on its own past values, that is, its own lags and the lagged forecast errors, so that equation can be used to forecast future values.</a:t>
            </a:r>
          </a:p>
          <a:p>
            <a:pPr algn="l"/>
            <a:endParaRPr lang="en-US" sz="1600" b="0" i="0" dirty="0">
              <a:effectLst/>
            </a:endParaRPr>
          </a:p>
          <a:p>
            <a:pPr algn="l"/>
            <a:r>
              <a:rPr lang="en-US" sz="1600" b="0" i="0" dirty="0">
                <a:effectLst/>
              </a:rPr>
              <a:t>Any time series that exhibits patterns and is not a random white noise can be modeled with </a:t>
            </a:r>
            <a:r>
              <a:rPr lang="en-US" sz="1600" dirty="0"/>
              <a:t>S</a:t>
            </a:r>
            <a:r>
              <a:rPr lang="en-US" sz="1600" b="0" i="0" dirty="0">
                <a:effectLst/>
              </a:rPr>
              <a:t>ARIMA models.</a:t>
            </a:r>
          </a:p>
          <a:p>
            <a:endParaRPr lang="en-US" sz="1600" dirty="0"/>
          </a:p>
        </p:txBody>
      </p:sp>
      <p:sp>
        <p:nvSpPr>
          <p:cNvPr id="8" name="TextBox 7">
            <a:extLst>
              <a:ext uri="{FF2B5EF4-FFF2-40B4-BE49-F238E27FC236}">
                <a16:creationId xmlns:a16="http://schemas.microsoft.com/office/drawing/2014/main" id="{E89696BE-B2A5-48D8-AD02-F735883C2474}"/>
              </a:ext>
            </a:extLst>
          </p:cNvPr>
          <p:cNvSpPr txBox="1"/>
          <p:nvPr/>
        </p:nvSpPr>
        <p:spPr>
          <a:xfrm>
            <a:off x="2464323" y="4297043"/>
            <a:ext cx="8856483" cy="2062103"/>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Is the </a:t>
            </a:r>
            <a:r>
              <a:rPr lang="en-US" sz="1600" b="1" dirty="0"/>
              <a:t>d</a:t>
            </a:r>
            <a:r>
              <a:rPr lang="en-US" sz="1600" b="1" i="0" dirty="0">
                <a:effectLst/>
              </a:rPr>
              <a:t>ata stationary?</a:t>
            </a:r>
          </a:p>
          <a:p>
            <a:pPr algn="l"/>
            <a:r>
              <a:rPr lang="en-US" sz="1600" b="0" i="0" dirty="0">
                <a:effectLst/>
              </a:rPr>
              <a:t>no trend or seasonality</a:t>
            </a:r>
          </a:p>
          <a:p>
            <a:pPr algn="l"/>
            <a:endParaRPr lang="en-US" sz="1600" b="0" i="0" dirty="0">
              <a:effectLst/>
            </a:endParaRPr>
          </a:p>
          <a:p>
            <a:pPr marL="285750" indent="-285750" algn="l">
              <a:buFont typeface="Wingdings" panose="05000000000000000000" pitchFamily="2" charset="2"/>
              <a:buChar char="ü"/>
            </a:pPr>
            <a:r>
              <a:rPr lang="en-US" sz="1600" b="1" i="0" dirty="0">
                <a:effectLst/>
              </a:rPr>
              <a:t>Dickey Fuller test -- to determine "d“</a:t>
            </a:r>
            <a:endParaRPr lang="en-US" sz="1600" dirty="0"/>
          </a:p>
          <a:p>
            <a:pPr algn="l"/>
            <a:r>
              <a:rPr lang="en-US" sz="1600" b="0" i="0" dirty="0">
                <a:effectLst/>
              </a:rPr>
              <a:t>“d” is the number of differencing required to make the time series stationary</a:t>
            </a:r>
          </a:p>
          <a:p>
            <a:pPr algn="l"/>
            <a:endParaRPr lang="en-US" sz="1600" b="0" i="0" dirty="0">
              <a:effectLst/>
            </a:endParaRPr>
          </a:p>
          <a:p>
            <a:pPr marL="285750" indent="-285750" algn="l">
              <a:buFont typeface="Wingdings" panose="05000000000000000000" pitchFamily="2" charset="2"/>
              <a:buChar char="ü"/>
            </a:pPr>
            <a:r>
              <a:rPr lang="en-US" sz="1600" b="1" i="0" dirty="0">
                <a:effectLst/>
              </a:rPr>
              <a:t>ACF and PACF plots -- to determine "p" and "q"</a:t>
            </a:r>
            <a:r>
              <a:rPr lang="en-US" sz="1600" b="0" i="0" dirty="0">
                <a:effectLst/>
              </a:rPr>
              <a:t> </a:t>
            </a:r>
          </a:p>
          <a:p>
            <a:pPr algn="l"/>
            <a:r>
              <a:rPr lang="en-US" sz="1600" dirty="0"/>
              <a:t>“p”/”q” is the order of AR/MA term</a:t>
            </a:r>
            <a:endParaRPr lang="en-US" sz="1600" b="0" i="0" dirty="0">
              <a:effectLst/>
            </a:endParaRPr>
          </a:p>
        </p:txBody>
      </p:sp>
    </p:spTree>
    <p:extLst>
      <p:ext uri="{BB962C8B-B14F-4D97-AF65-F5344CB8AC3E}">
        <p14:creationId xmlns:p14="http://schemas.microsoft.com/office/powerpoint/2010/main" val="2108195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SARIMA</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1" i="0" dirty="0">
                <a:effectLst/>
                <a:latin typeface="+mj-lt"/>
              </a:rPr>
              <a:t>Seasonal Auto Regressive Integrated Moving Average</a:t>
            </a:r>
            <a:endParaRPr lang="en-US" sz="1600" b="1" dirty="0">
              <a:latin typeface="+mj-lt"/>
            </a:endParaRPr>
          </a:p>
        </p:txBody>
      </p:sp>
      <p:sp>
        <p:nvSpPr>
          <p:cNvPr id="8" name="TextBox 7">
            <a:extLst>
              <a:ext uri="{FF2B5EF4-FFF2-40B4-BE49-F238E27FC236}">
                <a16:creationId xmlns:a16="http://schemas.microsoft.com/office/drawing/2014/main" id="{E89696BE-B2A5-48D8-AD02-F735883C2474}"/>
              </a:ext>
            </a:extLst>
          </p:cNvPr>
          <p:cNvSpPr txBox="1"/>
          <p:nvPr/>
        </p:nvSpPr>
        <p:spPr>
          <a:xfrm>
            <a:off x="611956" y="1816629"/>
            <a:ext cx="10035619" cy="584775"/>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Is the Data Stationary?</a:t>
            </a:r>
          </a:p>
          <a:p>
            <a:pPr algn="l"/>
            <a:r>
              <a:rPr lang="en-US" sz="1600" dirty="0"/>
              <a:t>Not stationary even after normalized to log scale, need seasonality d</a:t>
            </a:r>
            <a:r>
              <a:rPr lang="en-US" sz="1600" b="0" i="0" dirty="0">
                <a:effectLst/>
              </a:rPr>
              <a:t>ecomposition and differencing </a:t>
            </a:r>
          </a:p>
        </p:txBody>
      </p:sp>
      <p:pic>
        <p:nvPicPr>
          <p:cNvPr id="2" name="Picture 1">
            <a:extLst>
              <a:ext uri="{FF2B5EF4-FFF2-40B4-BE49-F238E27FC236}">
                <a16:creationId xmlns:a16="http://schemas.microsoft.com/office/drawing/2014/main" id="{723CDAEB-108B-4FA5-B694-A28612EB4A68}"/>
              </a:ext>
            </a:extLst>
          </p:cNvPr>
          <p:cNvPicPr>
            <a:picLocks noChangeAspect="1"/>
          </p:cNvPicPr>
          <p:nvPr/>
        </p:nvPicPr>
        <p:blipFill rotWithShape="1">
          <a:blip r:embed="rId2"/>
          <a:srcRect b="68061"/>
          <a:stretch/>
        </p:blipFill>
        <p:spPr>
          <a:xfrm>
            <a:off x="611956" y="2452211"/>
            <a:ext cx="5394960" cy="1477727"/>
          </a:xfrm>
          <a:prstGeom prst="rect">
            <a:avLst/>
          </a:prstGeom>
        </p:spPr>
      </p:pic>
      <p:pic>
        <p:nvPicPr>
          <p:cNvPr id="10" name="Picture 9">
            <a:extLst>
              <a:ext uri="{FF2B5EF4-FFF2-40B4-BE49-F238E27FC236}">
                <a16:creationId xmlns:a16="http://schemas.microsoft.com/office/drawing/2014/main" id="{30AD66AA-70D2-4752-BE8A-C2A885785B2A}"/>
              </a:ext>
            </a:extLst>
          </p:cNvPr>
          <p:cNvPicPr>
            <a:picLocks noChangeAspect="1"/>
          </p:cNvPicPr>
          <p:nvPr/>
        </p:nvPicPr>
        <p:blipFill rotWithShape="1">
          <a:blip r:embed="rId2"/>
          <a:srcRect t="32347" b="37395"/>
          <a:stretch/>
        </p:blipFill>
        <p:spPr>
          <a:xfrm>
            <a:off x="3451446" y="3756657"/>
            <a:ext cx="5394960" cy="1399880"/>
          </a:xfrm>
          <a:prstGeom prst="rect">
            <a:avLst/>
          </a:prstGeom>
        </p:spPr>
      </p:pic>
      <p:pic>
        <p:nvPicPr>
          <p:cNvPr id="11" name="Picture 10">
            <a:extLst>
              <a:ext uri="{FF2B5EF4-FFF2-40B4-BE49-F238E27FC236}">
                <a16:creationId xmlns:a16="http://schemas.microsoft.com/office/drawing/2014/main" id="{DB69F1F9-59A9-4A94-8E23-D1335EEC38C7}"/>
              </a:ext>
            </a:extLst>
          </p:cNvPr>
          <p:cNvPicPr>
            <a:picLocks noChangeAspect="1"/>
          </p:cNvPicPr>
          <p:nvPr/>
        </p:nvPicPr>
        <p:blipFill rotWithShape="1">
          <a:blip r:embed="rId2"/>
          <a:srcRect t="64438"/>
          <a:stretch/>
        </p:blipFill>
        <p:spPr>
          <a:xfrm>
            <a:off x="6658782" y="5109332"/>
            <a:ext cx="5394960" cy="1645330"/>
          </a:xfrm>
          <a:prstGeom prst="rect">
            <a:avLst/>
          </a:prstGeom>
        </p:spPr>
      </p:pic>
      <p:sp>
        <p:nvSpPr>
          <p:cNvPr id="3" name="TextBox 2">
            <a:extLst>
              <a:ext uri="{FF2B5EF4-FFF2-40B4-BE49-F238E27FC236}">
                <a16:creationId xmlns:a16="http://schemas.microsoft.com/office/drawing/2014/main" id="{4AA7C899-A7FB-4FCF-8026-22AB00816E91}"/>
              </a:ext>
            </a:extLst>
          </p:cNvPr>
          <p:cNvSpPr txBox="1"/>
          <p:nvPr/>
        </p:nvSpPr>
        <p:spPr>
          <a:xfrm>
            <a:off x="8258039" y="3669383"/>
            <a:ext cx="1607112"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7 days cycle</a:t>
            </a:r>
          </a:p>
        </p:txBody>
      </p:sp>
    </p:spTree>
    <p:extLst>
      <p:ext uri="{BB962C8B-B14F-4D97-AF65-F5344CB8AC3E}">
        <p14:creationId xmlns:p14="http://schemas.microsoft.com/office/powerpoint/2010/main" val="3733208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SARIMA</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1" i="0" dirty="0">
                <a:effectLst/>
                <a:latin typeface="+mj-lt"/>
              </a:rPr>
              <a:t>Seasonal Auto Regressive Integrated Moving Average</a:t>
            </a:r>
            <a:endParaRPr lang="en-US" sz="1600" b="1" dirty="0">
              <a:latin typeface="+mj-lt"/>
            </a:endParaRPr>
          </a:p>
        </p:txBody>
      </p:sp>
      <p:sp>
        <p:nvSpPr>
          <p:cNvPr id="8" name="TextBox 7">
            <a:extLst>
              <a:ext uri="{FF2B5EF4-FFF2-40B4-BE49-F238E27FC236}">
                <a16:creationId xmlns:a16="http://schemas.microsoft.com/office/drawing/2014/main" id="{E89696BE-B2A5-48D8-AD02-F735883C2474}"/>
              </a:ext>
            </a:extLst>
          </p:cNvPr>
          <p:cNvSpPr txBox="1"/>
          <p:nvPr/>
        </p:nvSpPr>
        <p:spPr>
          <a:xfrm>
            <a:off x="611956" y="1816629"/>
            <a:ext cx="8856483" cy="584775"/>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Dickey Fuller test -- to determine "d“ </a:t>
            </a:r>
          </a:p>
          <a:p>
            <a:pPr algn="l"/>
            <a:r>
              <a:rPr lang="en-US" sz="1600" b="0" i="0" dirty="0">
                <a:effectLst/>
              </a:rPr>
              <a:t>no trend or seasonality after subtracting 7-day moving average</a:t>
            </a:r>
          </a:p>
        </p:txBody>
      </p:sp>
      <p:pic>
        <p:nvPicPr>
          <p:cNvPr id="1028" name="Picture 4">
            <a:extLst>
              <a:ext uri="{FF2B5EF4-FFF2-40B4-BE49-F238E27FC236}">
                <a16:creationId xmlns:a16="http://schemas.microsoft.com/office/drawing/2014/main" id="{E3A0CAC9-05EC-48FF-8727-5054F18162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7629"/>
          <a:stretch/>
        </p:blipFill>
        <p:spPr bwMode="auto">
          <a:xfrm>
            <a:off x="5142591" y="3052446"/>
            <a:ext cx="7132320" cy="3249373"/>
          </a:xfrm>
          <a:prstGeom prst="rect">
            <a:avLst/>
          </a:prstGeom>
          <a:noFill/>
          <a:ln>
            <a:noFill/>
          </a:ln>
          <a:effectLst/>
          <a:scene3d>
            <a:camera prst="perspectiveRight"/>
            <a:lightRig rig="glow" dir="t">
              <a:rot lat="0" lon="0" rev="14100000"/>
            </a:lightRig>
          </a:scene3d>
          <a:sp3d prstMaterial="softEdge">
            <a:bevelT w="127000" prst="artDeco"/>
          </a:sp3d>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CE9B6CED-0435-4249-B20D-92146C0C5B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3180"/>
          <a:stretch/>
        </p:blipFill>
        <p:spPr bwMode="auto">
          <a:xfrm>
            <a:off x="-526689" y="3320921"/>
            <a:ext cx="5669280" cy="2309055"/>
          </a:xfrm>
          <a:prstGeom prst="rect">
            <a:avLst/>
          </a:prstGeom>
          <a:no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1DB87CD-0BC2-4314-82AE-73D3C53D3AB9}"/>
              </a:ext>
            </a:extLst>
          </p:cNvPr>
          <p:cNvSpPr txBox="1"/>
          <p:nvPr/>
        </p:nvSpPr>
        <p:spPr>
          <a:xfrm>
            <a:off x="6212423" y="5097544"/>
            <a:ext cx="83698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d = 1</a:t>
            </a:r>
          </a:p>
        </p:txBody>
      </p:sp>
    </p:spTree>
    <p:extLst>
      <p:ext uri="{BB962C8B-B14F-4D97-AF65-F5344CB8AC3E}">
        <p14:creationId xmlns:p14="http://schemas.microsoft.com/office/powerpoint/2010/main" val="253403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D41269-17EF-4065-A7BD-D2A90EB0A018}"/>
              </a:ext>
            </a:extLst>
          </p:cNvPr>
          <p:cNvPicPr>
            <a:picLocks noChangeAspect="1"/>
          </p:cNvPicPr>
          <p:nvPr/>
        </p:nvPicPr>
        <p:blipFill rotWithShape="1">
          <a:blip r:embed="rId2"/>
          <a:srcRect t="30928"/>
          <a:stretch/>
        </p:blipFill>
        <p:spPr>
          <a:xfrm>
            <a:off x="654335" y="2278137"/>
            <a:ext cx="6159406" cy="4297680"/>
          </a:xfrm>
          <a:prstGeom prst="rect">
            <a:avLst/>
          </a:prstGeom>
        </p:spPr>
      </p:pic>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SARIMA</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1" i="0" dirty="0">
                <a:effectLst/>
                <a:latin typeface="+mj-lt"/>
              </a:rPr>
              <a:t>Seasonal Auto Regressive Integrated Moving Average</a:t>
            </a:r>
            <a:endParaRPr lang="en-US" sz="1600" b="1" dirty="0">
              <a:latin typeface="+mj-lt"/>
            </a:endParaRPr>
          </a:p>
        </p:txBody>
      </p:sp>
      <p:sp>
        <p:nvSpPr>
          <p:cNvPr id="8" name="TextBox 7">
            <a:extLst>
              <a:ext uri="{FF2B5EF4-FFF2-40B4-BE49-F238E27FC236}">
                <a16:creationId xmlns:a16="http://schemas.microsoft.com/office/drawing/2014/main" id="{E89696BE-B2A5-48D8-AD02-F735883C2474}"/>
              </a:ext>
            </a:extLst>
          </p:cNvPr>
          <p:cNvSpPr txBox="1"/>
          <p:nvPr/>
        </p:nvSpPr>
        <p:spPr>
          <a:xfrm>
            <a:off x="611956" y="1816629"/>
            <a:ext cx="8856483" cy="338554"/>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ACF and PACF plots -- to determine "p" and "q"</a:t>
            </a:r>
            <a:r>
              <a:rPr lang="en-US" sz="1600" b="0" i="0" dirty="0">
                <a:effectLst/>
              </a:rPr>
              <a:t> </a:t>
            </a:r>
          </a:p>
        </p:txBody>
      </p:sp>
      <p:sp>
        <p:nvSpPr>
          <p:cNvPr id="7" name="TextBox 6">
            <a:extLst>
              <a:ext uri="{FF2B5EF4-FFF2-40B4-BE49-F238E27FC236}">
                <a16:creationId xmlns:a16="http://schemas.microsoft.com/office/drawing/2014/main" id="{81DB87CD-0BC2-4314-82AE-73D3C53D3AB9}"/>
              </a:ext>
            </a:extLst>
          </p:cNvPr>
          <p:cNvSpPr txBox="1"/>
          <p:nvPr/>
        </p:nvSpPr>
        <p:spPr>
          <a:xfrm>
            <a:off x="5976753" y="2678403"/>
            <a:ext cx="836988"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p = 2, q = 1</a:t>
            </a:r>
          </a:p>
        </p:txBody>
      </p:sp>
      <p:pic>
        <p:nvPicPr>
          <p:cNvPr id="9" name="Picture 8">
            <a:extLst>
              <a:ext uri="{FF2B5EF4-FFF2-40B4-BE49-F238E27FC236}">
                <a16:creationId xmlns:a16="http://schemas.microsoft.com/office/drawing/2014/main" id="{B090C6D7-EBFC-4A36-BDA9-3E459D4E85F3}"/>
              </a:ext>
            </a:extLst>
          </p:cNvPr>
          <p:cNvPicPr>
            <a:picLocks noChangeAspect="1"/>
          </p:cNvPicPr>
          <p:nvPr/>
        </p:nvPicPr>
        <p:blipFill rotWithShape="1">
          <a:blip r:embed="rId2"/>
          <a:srcRect b="68500"/>
          <a:stretch/>
        </p:blipFill>
        <p:spPr>
          <a:xfrm>
            <a:off x="6942054" y="3256970"/>
            <a:ext cx="5459858" cy="1737360"/>
          </a:xfrm>
          <a:prstGeom prst="rect">
            <a:avLst/>
          </a:prstGeom>
          <a:scene3d>
            <a:camera prst="perspectiveRight"/>
            <a:lightRig rig="threePt" dir="t"/>
          </a:scene3d>
        </p:spPr>
      </p:pic>
    </p:spTree>
    <p:extLst>
      <p:ext uri="{BB962C8B-B14F-4D97-AF65-F5344CB8AC3E}">
        <p14:creationId xmlns:p14="http://schemas.microsoft.com/office/powerpoint/2010/main" val="3271193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SARIMA</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1" i="0" dirty="0">
                <a:effectLst/>
                <a:latin typeface="+mj-lt"/>
              </a:rPr>
              <a:t>Seasonal Auto Regressive Integrated Moving Average</a:t>
            </a:r>
            <a:endParaRPr lang="en-US" sz="1600" b="1" dirty="0">
              <a:latin typeface="+mj-lt"/>
            </a:endParaRPr>
          </a:p>
        </p:txBody>
      </p:sp>
      <p:sp>
        <p:nvSpPr>
          <p:cNvPr id="8" name="TextBox 7">
            <a:extLst>
              <a:ext uri="{FF2B5EF4-FFF2-40B4-BE49-F238E27FC236}">
                <a16:creationId xmlns:a16="http://schemas.microsoft.com/office/drawing/2014/main" id="{E89696BE-B2A5-48D8-AD02-F735883C2474}"/>
              </a:ext>
            </a:extLst>
          </p:cNvPr>
          <p:cNvSpPr txBox="1"/>
          <p:nvPr/>
        </p:nvSpPr>
        <p:spPr>
          <a:xfrm>
            <a:off x="611956" y="1816629"/>
            <a:ext cx="8856483" cy="338554"/>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dirty="0"/>
              <a:t>Performance</a:t>
            </a:r>
            <a:endParaRPr lang="en-US" sz="1600" b="0" i="0" dirty="0">
              <a:effectLst/>
            </a:endParaRPr>
          </a:p>
        </p:txBody>
      </p:sp>
      <p:pic>
        <p:nvPicPr>
          <p:cNvPr id="3" name="Picture 2">
            <a:extLst>
              <a:ext uri="{FF2B5EF4-FFF2-40B4-BE49-F238E27FC236}">
                <a16:creationId xmlns:a16="http://schemas.microsoft.com/office/drawing/2014/main" id="{59FBEFF4-49E9-4B53-AC6E-0786C66ACD90}"/>
              </a:ext>
            </a:extLst>
          </p:cNvPr>
          <p:cNvPicPr>
            <a:picLocks noChangeAspect="1"/>
          </p:cNvPicPr>
          <p:nvPr/>
        </p:nvPicPr>
        <p:blipFill>
          <a:blip r:embed="rId2"/>
          <a:stretch>
            <a:fillRect/>
          </a:stretch>
        </p:blipFill>
        <p:spPr>
          <a:xfrm>
            <a:off x="2733779" y="2503067"/>
            <a:ext cx="8827840" cy="4023360"/>
          </a:xfrm>
          <a:prstGeom prst="rect">
            <a:avLst/>
          </a:prstGeom>
        </p:spPr>
      </p:pic>
    </p:spTree>
    <p:extLst>
      <p:ext uri="{BB962C8B-B14F-4D97-AF65-F5344CB8AC3E}">
        <p14:creationId xmlns:p14="http://schemas.microsoft.com/office/powerpoint/2010/main" val="1606783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LSTM</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0" i="0" dirty="0">
                <a:effectLst/>
              </a:rPr>
              <a:t>Long-short Term Memory network </a:t>
            </a:r>
            <a:endParaRPr lang="en-US" sz="1600" b="1" dirty="0"/>
          </a:p>
        </p:txBody>
      </p:sp>
      <p:sp>
        <p:nvSpPr>
          <p:cNvPr id="6" name="TextBox 5">
            <a:extLst>
              <a:ext uri="{FF2B5EF4-FFF2-40B4-BE49-F238E27FC236}">
                <a16:creationId xmlns:a16="http://schemas.microsoft.com/office/drawing/2014/main" id="{1BA66A7A-D41B-482A-BB74-D44E77CBF070}"/>
              </a:ext>
            </a:extLst>
          </p:cNvPr>
          <p:cNvSpPr txBox="1"/>
          <p:nvPr/>
        </p:nvSpPr>
        <p:spPr>
          <a:xfrm>
            <a:off x="895545" y="2053412"/>
            <a:ext cx="8748076" cy="1077218"/>
          </a:xfrm>
          <a:prstGeom prst="rect">
            <a:avLst/>
          </a:prstGeom>
          <a:noFill/>
          <a:ln>
            <a:solidFill>
              <a:schemeClr val="tx1">
                <a:lumMod val="75000"/>
              </a:schemeClr>
            </a:solidFill>
          </a:ln>
        </p:spPr>
        <p:txBody>
          <a:bodyPr wrap="square" rtlCol="0">
            <a:spAutoFit/>
          </a:bodyPr>
          <a:lstStyle/>
          <a:p>
            <a:pPr algn="l"/>
            <a:r>
              <a:rPr lang="en-US" sz="1600" dirty="0"/>
              <a:t>LSTM</a:t>
            </a:r>
            <a:r>
              <a:rPr lang="en-US" sz="1600" b="0" i="0" dirty="0">
                <a:effectLst/>
              </a:rPr>
              <a:t> is a type of recurrent neural network designed to overcome problems of basic RNNs, such as gradient vanishing and exploding, so the network can learn long-term dependencies</a:t>
            </a:r>
          </a:p>
          <a:p>
            <a:endParaRPr lang="en-US" sz="1600" dirty="0"/>
          </a:p>
        </p:txBody>
      </p:sp>
      <p:sp>
        <p:nvSpPr>
          <p:cNvPr id="8" name="TextBox 7">
            <a:extLst>
              <a:ext uri="{FF2B5EF4-FFF2-40B4-BE49-F238E27FC236}">
                <a16:creationId xmlns:a16="http://schemas.microsoft.com/office/drawing/2014/main" id="{E89696BE-B2A5-48D8-AD02-F735883C2474}"/>
              </a:ext>
            </a:extLst>
          </p:cNvPr>
          <p:cNvSpPr txBox="1"/>
          <p:nvPr/>
        </p:nvSpPr>
        <p:spPr>
          <a:xfrm>
            <a:off x="2464323" y="3636237"/>
            <a:ext cx="8856483" cy="1569660"/>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Adding nonlinear features</a:t>
            </a:r>
          </a:p>
          <a:p>
            <a:pPr algn="l"/>
            <a:r>
              <a:rPr lang="en-US" sz="1600" dirty="0"/>
              <a:t>extreme events and holidays</a:t>
            </a:r>
            <a:endParaRPr lang="en-US" sz="1600" b="0" i="0" dirty="0">
              <a:effectLst/>
            </a:endParaRPr>
          </a:p>
          <a:p>
            <a:pPr algn="l"/>
            <a:endParaRPr lang="en-US" sz="1600" b="0" i="0" dirty="0">
              <a:effectLst/>
            </a:endParaRPr>
          </a:p>
          <a:p>
            <a:pPr marL="285750" indent="-285750" algn="l">
              <a:buFont typeface="Wingdings" panose="05000000000000000000" pitchFamily="2" charset="2"/>
              <a:buChar char="ü"/>
            </a:pPr>
            <a:r>
              <a:rPr lang="en-US" sz="1600" b="1" i="0" dirty="0">
                <a:effectLst/>
              </a:rPr>
              <a:t>Model structure</a:t>
            </a:r>
            <a:endParaRPr lang="en-US" sz="1600" dirty="0"/>
          </a:p>
          <a:p>
            <a:pPr algn="l"/>
            <a:r>
              <a:rPr lang="en-US" sz="1600" dirty="0"/>
              <a:t>Bayesian neutral network for confidence intervals</a:t>
            </a:r>
            <a:endParaRPr lang="en-US" sz="1600" b="0" i="0" dirty="0">
              <a:effectLst/>
            </a:endParaRPr>
          </a:p>
          <a:p>
            <a:pPr algn="l"/>
            <a:endParaRPr lang="en-US" sz="1600" b="0" i="0" dirty="0">
              <a:effectLst/>
            </a:endParaRPr>
          </a:p>
        </p:txBody>
      </p:sp>
    </p:spTree>
    <p:extLst>
      <p:ext uri="{BB962C8B-B14F-4D97-AF65-F5344CB8AC3E}">
        <p14:creationId xmlns:p14="http://schemas.microsoft.com/office/powerpoint/2010/main" val="765768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LSTM</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0" i="0" dirty="0">
                <a:effectLst/>
              </a:rPr>
              <a:t>Long-short Term Memory network </a:t>
            </a:r>
            <a:endParaRPr lang="en-US" sz="1600" b="1" dirty="0"/>
          </a:p>
        </p:txBody>
      </p:sp>
      <p:sp>
        <p:nvSpPr>
          <p:cNvPr id="7" name="TextBox 6">
            <a:extLst>
              <a:ext uri="{FF2B5EF4-FFF2-40B4-BE49-F238E27FC236}">
                <a16:creationId xmlns:a16="http://schemas.microsoft.com/office/drawing/2014/main" id="{FE283C9B-1B97-40D5-A599-E565737A63FB}"/>
              </a:ext>
            </a:extLst>
          </p:cNvPr>
          <p:cNvSpPr txBox="1"/>
          <p:nvPr/>
        </p:nvSpPr>
        <p:spPr>
          <a:xfrm>
            <a:off x="611956" y="1816629"/>
            <a:ext cx="8856483" cy="584775"/>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Adding nonlinear features </a:t>
            </a:r>
          </a:p>
          <a:p>
            <a:r>
              <a:rPr lang="en-US" sz="1600" dirty="0"/>
              <a:t>extreme events and holidays</a:t>
            </a:r>
            <a:endParaRPr lang="en-US" sz="1600" b="0" i="0" dirty="0">
              <a:effectLst/>
            </a:endParaRPr>
          </a:p>
        </p:txBody>
      </p:sp>
      <p:pic>
        <p:nvPicPr>
          <p:cNvPr id="2" name="Picture 1">
            <a:extLst>
              <a:ext uri="{FF2B5EF4-FFF2-40B4-BE49-F238E27FC236}">
                <a16:creationId xmlns:a16="http://schemas.microsoft.com/office/drawing/2014/main" id="{20FFE39E-102A-43E8-B1ED-5E4021BFB279}"/>
              </a:ext>
            </a:extLst>
          </p:cNvPr>
          <p:cNvPicPr>
            <a:picLocks noChangeAspect="1"/>
          </p:cNvPicPr>
          <p:nvPr/>
        </p:nvPicPr>
        <p:blipFill>
          <a:blip r:embed="rId2"/>
          <a:stretch>
            <a:fillRect/>
          </a:stretch>
        </p:blipFill>
        <p:spPr>
          <a:xfrm>
            <a:off x="1267918" y="2751631"/>
            <a:ext cx="6949440" cy="3786610"/>
          </a:xfrm>
          <a:prstGeom prst="rect">
            <a:avLst/>
          </a:prstGeom>
          <a:scene3d>
            <a:camera prst="perspectiveRight"/>
            <a:lightRig rig="threePt" dir="t"/>
          </a:scene3d>
        </p:spPr>
      </p:pic>
      <p:sp>
        <p:nvSpPr>
          <p:cNvPr id="9" name="TextBox 8">
            <a:extLst>
              <a:ext uri="{FF2B5EF4-FFF2-40B4-BE49-F238E27FC236}">
                <a16:creationId xmlns:a16="http://schemas.microsoft.com/office/drawing/2014/main" id="{2E401248-74A9-4E5F-9680-92195AF12A6B}"/>
              </a:ext>
            </a:extLst>
          </p:cNvPr>
          <p:cNvSpPr txBox="1"/>
          <p:nvPr/>
        </p:nvSpPr>
        <p:spPr>
          <a:xfrm>
            <a:off x="8217358" y="4278909"/>
            <a:ext cx="2496205" cy="58477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600" dirty="0"/>
              <a:t>Extreme events (green) </a:t>
            </a:r>
          </a:p>
          <a:p>
            <a:r>
              <a:rPr lang="en-US" sz="1600" dirty="0"/>
              <a:t>Holidays (gray)</a:t>
            </a:r>
            <a:endParaRPr lang="en-US" sz="1600" b="0" i="0" dirty="0">
              <a:effectLst/>
            </a:endParaRPr>
          </a:p>
        </p:txBody>
      </p:sp>
    </p:spTree>
    <p:extLst>
      <p:ext uri="{BB962C8B-B14F-4D97-AF65-F5344CB8AC3E}">
        <p14:creationId xmlns:p14="http://schemas.microsoft.com/office/powerpoint/2010/main" val="1444345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LSTM</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0" i="0" dirty="0">
                <a:effectLst/>
              </a:rPr>
              <a:t>Long-short Term Memory network </a:t>
            </a:r>
            <a:endParaRPr lang="en-US" sz="1600" b="1" dirty="0"/>
          </a:p>
        </p:txBody>
      </p:sp>
      <p:sp>
        <p:nvSpPr>
          <p:cNvPr id="7" name="TextBox 6">
            <a:extLst>
              <a:ext uri="{FF2B5EF4-FFF2-40B4-BE49-F238E27FC236}">
                <a16:creationId xmlns:a16="http://schemas.microsoft.com/office/drawing/2014/main" id="{FE283C9B-1B97-40D5-A599-E565737A63FB}"/>
              </a:ext>
            </a:extLst>
          </p:cNvPr>
          <p:cNvSpPr txBox="1"/>
          <p:nvPr/>
        </p:nvSpPr>
        <p:spPr>
          <a:xfrm>
            <a:off x="611956" y="1816629"/>
            <a:ext cx="8856483" cy="338554"/>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i="0" dirty="0">
                <a:effectLst/>
              </a:rPr>
              <a:t>Model structure</a:t>
            </a:r>
            <a:endParaRPr lang="en-US" sz="1600" dirty="0"/>
          </a:p>
        </p:txBody>
      </p:sp>
      <p:sp>
        <p:nvSpPr>
          <p:cNvPr id="8" name="TextBox 7">
            <a:extLst>
              <a:ext uri="{FF2B5EF4-FFF2-40B4-BE49-F238E27FC236}">
                <a16:creationId xmlns:a16="http://schemas.microsoft.com/office/drawing/2014/main" id="{D9587E02-2321-4585-8CB3-9FD234E6A693}"/>
              </a:ext>
            </a:extLst>
          </p:cNvPr>
          <p:cNvSpPr txBox="1"/>
          <p:nvPr/>
        </p:nvSpPr>
        <p:spPr>
          <a:xfrm>
            <a:off x="819534" y="2352400"/>
            <a:ext cx="5954940" cy="1077218"/>
          </a:xfrm>
          <a:prstGeom prst="rect">
            <a:avLst/>
          </a:prstGeom>
          <a:noFill/>
          <a:ln>
            <a:solidFill>
              <a:schemeClr val="tx1"/>
            </a:solidFill>
          </a:ln>
        </p:spPr>
        <p:txBody>
          <a:bodyPr wrap="square">
            <a:spAutoFit/>
          </a:bodyPr>
          <a:lstStyle/>
          <a:p>
            <a:pPr algn="l"/>
            <a:r>
              <a:rPr lang="en-US" sz="1600" b="0" i="0" dirty="0">
                <a:effectLst/>
                <a:latin typeface="Helvetica Neue"/>
              </a:rPr>
              <a:t>2 LSTM layers with 128 units and 32 units, respectively. Then a fully connected layer with 1 output</a:t>
            </a:r>
          </a:p>
          <a:p>
            <a:pPr algn="l"/>
            <a:endParaRPr lang="en-US" sz="1600" b="0" i="0" dirty="0">
              <a:effectLst/>
              <a:latin typeface="Helvetica Neue"/>
            </a:endParaRPr>
          </a:p>
          <a:p>
            <a:pPr algn="l"/>
            <a:r>
              <a:rPr lang="en-US" sz="1600" b="0" i="0" dirty="0">
                <a:effectLst/>
                <a:latin typeface="Helvetica Neue"/>
              </a:rPr>
              <a:t>dropout is added after each layer for BNN</a:t>
            </a:r>
          </a:p>
        </p:txBody>
      </p:sp>
      <p:pic>
        <p:nvPicPr>
          <p:cNvPr id="1026" name="Picture 2" descr="Long Short-term Memory Neural Network | Download Scientific Diagram">
            <a:extLst>
              <a:ext uri="{FF2B5EF4-FFF2-40B4-BE49-F238E27FC236}">
                <a16:creationId xmlns:a16="http://schemas.microsoft.com/office/drawing/2014/main" id="{5EB48314-D27D-4159-99FC-A07B6B09E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404" y="3626835"/>
            <a:ext cx="5029200" cy="272169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D110416-FAEA-496C-9C1D-C51FCB397F28}"/>
              </a:ext>
            </a:extLst>
          </p:cNvPr>
          <p:cNvPicPr>
            <a:picLocks noChangeAspect="1"/>
          </p:cNvPicPr>
          <p:nvPr/>
        </p:nvPicPr>
        <p:blipFill>
          <a:blip r:embed="rId3"/>
          <a:stretch>
            <a:fillRect/>
          </a:stretch>
        </p:blipFill>
        <p:spPr>
          <a:xfrm>
            <a:off x="7166613" y="3196029"/>
            <a:ext cx="4480560" cy="3458981"/>
          </a:xfrm>
          <a:prstGeom prst="rect">
            <a:avLst/>
          </a:prstGeom>
        </p:spPr>
      </p:pic>
    </p:spTree>
    <p:extLst>
      <p:ext uri="{BB962C8B-B14F-4D97-AF65-F5344CB8AC3E}">
        <p14:creationId xmlns:p14="http://schemas.microsoft.com/office/powerpoint/2010/main" val="3223106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89696BE-B2A5-48D8-AD02-F735883C2474}"/>
              </a:ext>
            </a:extLst>
          </p:cNvPr>
          <p:cNvSpPr txBox="1"/>
          <p:nvPr/>
        </p:nvSpPr>
        <p:spPr>
          <a:xfrm>
            <a:off x="611956" y="1816629"/>
            <a:ext cx="8856483" cy="338554"/>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b="1" dirty="0"/>
              <a:t>Performance</a:t>
            </a:r>
            <a:endParaRPr lang="en-US" sz="1600" b="0" i="0" dirty="0">
              <a:effectLst/>
            </a:endParaRPr>
          </a:p>
        </p:txBody>
      </p:sp>
      <p:sp>
        <p:nvSpPr>
          <p:cNvPr id="6" name="TextBox 5">
            <a:extLst>
              <a:ext uri="{FF2B5EF4-FFF2-40B4-BE49-F238E27FC236}">
                <a16:creationId xmlns:a16="http://schemas.microsoft.com/office/drawing/2014/main" id="{6AB87182-20AD-484B-BC25-49F6B1A2F1A5}"/>
              </a:ext>
            </a:extLst>
          </p:cNvPr>
          <p:cNvSpPr txBox="1"/>
          <p:nvPr/>
        </p:nvSpPr>
        <p:spPr>
          <a:xfrm>
            <a:off x="5846475" y="770189"/>
            <a:ext cx="5385288" cy="523220"/>
          </a:xfrm>
          <a:prstGeom prst="rect">
            <a:avLst/>
          </a:prstGeom>
          <a:noFill/>
        </p:spPr>
        <p:txBody>
          <a:bodyPr wrap="square" rtlCol="0">
            <a:spAutoFit/>
          </a:bodyPr>
          <a:lstStyle/>
          <a:p>
            <a:r>
              <a:rPr lang="en-US" sz="2800" b="1" dirty="0"/>
              <a:t>LSTM</a:t>
            </a:r>
          </a:p>
        </p:txBody>
      </p:sp>
      <p:sp>
        <p:nvSpPr>
          <p:cNvPr id="7" name="TextBox 6">
            <a:extLst>
              <a:ext uri="{FF2B5EF4-FFF2-40B4-BE49-F238E27FC236}">
                <a16:creationId xmlns:a16="http://schemas.microsoft.com/office/drawing/2014/main" id="{DE275283-ED13-4B72-AD5C-76DA83300539}"/>
              </a:ext>
            </a:extLst>
          </p:cNvPr>
          <p:cNvSpPr txBox="1"/>
          <p:nvPr/>
        </p:nvSpPr>
        <p:spPr>
          <a:xfrm>
            <a:off x="6148926" y="1293409"/>
            <a:ext cx="7482254" cy="338554"/>
          </a:xfrm>
          <a:prstGeom prst="rect">
            <a:avLst/>
          </a:prstGeom>
          <a:noFill/>
        </p:spPr>
        <p:txBody>
          <a:bodyPr wrap="square" rtlCol="0">
            <a:spAutoFit/>
          </a:bodyPr>
          <a:lstStyle/>
          <a:p>
            <a:r>
              <a:rPr lang="en-US" sz="1600" b="0" i="0" dirty="0">
                <a:effectLst/>
              </a:rPr>
              <a:t>Long-short Term Memory network </a:t>
            </a:r>
            <a:endParaRPr lang="en-US" sz="1600" b="1" dirty="0"/>
          </a:p>
        </p:txBody>
      </p:sp>
      <p:pic>
        <p:nvPicPr>
          <p:cNvPr id="2" name="Picture 1">
            <a:extLst>
              <a:ext uri="{FF2B5EF4-FFF2-40B4-BE49-F238E27FC236}">
                <a16:creationId xmlns:a16="http://schemas.microsoft.com/office/drawing/2014/main" id="{398D2A1A-7BBB-45B3-8FE6-210304CB04D6}"/>
              </a:ext>
            </a:extLst>
          </p:cNvPr>
          <p:cNvPicPr>
            <a:picLocks noChangeAspect="1"/>
          </p:cNvPicPr>
          <p:nvPr/>
        </p:nvPicPr>
        <p:blipFill>
          <a:blip r:embed="rId2"/>
          <a:stretch>
            <a:fillRect/>
          </a:stretch>
        </p:blipFill>
        <p:spPr>
          <a:xfrm>
            <a:off x="3433407" y="2553370"/>
            <a:ext cx="8099248" cy="3931920"/>
          </a:xfrm>
          <a:prstGeom prst="rect">
            <a:avLst/>
          </a:prstGeom>
        </p:spPr>
      </p:pic>
    </p:spTree>
    <p:extLst>
      <p:ext uri="{BB962C8B-B14F-4D97-AF65-F5344CB8AC3E}">
        <p14:creationId xmlns:p14="http://schemas.microsoft.com/office/powerpoint/2010/main" val="3204811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CONCLUSION</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0" i="0" dirty="0">
                <a:effectLst/>
              </a:rPr>
              <a:t>SARIMA and LSTM performances</a:t>
            </a:r>
            <a:endParaRPr lang="en-US" sz="1600" b="1" dirty="0"/>
          </a:p>
        </p:txBody>
      </p:sp>
      <p:pic>
        <p:nvPicPr>
          <p:cNvPr id="3" name="Picture 2">
            <a:extLst>
              <a:ext uri="{FF2B5EF4-FFF2-40B4-BE49-F238E27FC236}">
                <a16:creationId xmlns:a16="http://schemas.microsoft.com/office/drawing/2014/main" id="{F781F27C-E416-4376-A500-26437F03B915}"/>
              </a:ext>
            </a:extLst>
          </p:cNvPr>
          <p:cNvPicPr>
            <a:picLocks noChangeAspect="1"/>
          </p:cNvPicPr>
          <p:nvPr/>
        </p:nvPicPr>
        <p:blipFill>
          <a:blip r:embed="rId2"/>
          <a:stretch>
            <a:fillRect/>
          </a:stretch>
        </p:blipFill>
        <p:spPr>
          <a:xfrm>
            <a:off x="782515" y="2952972"/>
            <a:ext cx="10058400" cy="785452"/>
          </a:xfrm>
          <a:prstGeom prst="rect">
            <a:avLst/>
          </a:prstGeom>
        </p:spPr>
      </p:pic>
      <p:pic>
        <p:nvPicPr>
          <p:cNvPr id="6" name="Picture 5">
            <a:extLst>
              <a:ext uri="{FF2B5EF4-FFF2-40B4-BE49-F238E27FC236}">
                <a16:creationId xmlns:a16="http://schemas.microsoft.com/office/drawing/2014/main" id="{59EF424A-F077-49D4-A3B5-63E155A7C28D}"/>
              </a:ext>
            </a:extLst>
          </p:cNvPr>
          <p:cNvPicPr>
            <a:picLocks noChangeAspect="1"/>
          </p:cNvPicPr>
          <p:nvPr/>
        </p:nvPicPr>
        <p:blipFill>
          <a:blip r:embed="rId3"/>
          <a:stretch>
            <a:fillRect/>
          </a:stretch>
        </p:blipFill>
        <p:spPr>
          <a:xfrm>
            <a:off x="113007" y="2094036"/>
            <a:ext cx="10058400" cy="773723"/>
          </a:xfrm>
          <a:prstGeom prst="rect">
            <a:avLst/>
          </a:prstGeom>
        </p:spPr>
      </p:pic>
      <p:sp>
        <p:nvSpPr>
          <p:cNvPr id="11" name="TextBox 10">
            <a:extLst>
              <a:ext uri="{FF2B5EF4-FFF2-40B4-BE49-F238E27FC236}">
                <a16:creationId xmlns:a16="http://schemas.microsoft.com/office/drawing/2014/main" id="{2A25C950-D876-46FB-ADD1-7E35B3D31BC5}"/>
              </a:ext>
            </a:extLst>
          </p:cNvPr>
          <p:cNvSpPr txBox="1"/>
          <p:nvPr/>
        </p:nvSpPr>
        <p:spPr>
          <a:xfrm>
            <a:off x="10288885" y="2296231"/>
            <a:ext cx="110405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00" b="1" i="0" dirty="0">
                <a:effectLst/>
              </a:rPr>
              <a:t>SARIMA</a:t>
            </a:r>
            <a:endParaRPr lang="en-US" b="1" dirty="0"/>
          </a:p>
        </p:txBody>
      </p:sp>
      <p:sp>
        <p:nvSpPr>
          <p:cNvPr id="14" name="TextBox 13">
            <a:extLst>
              <a:ext uri="{FF2B5EF4-FFF2-40B4-BE49-F238E27FC236}">
                <a16:creationId xmlns:a16="http://schemas.microsoft.com/office/drawing/2014/main" id="{9E83BB80-49DD-4B3E-8974-CA68C484B520}"/>
              </a:ext>
            </a:extLst>
          </p:cNvPr>
          <p:cNvSpPr txBox="1"/>
          <p:nvPr/>
        </p:nvSpPr>
        <p:spPr>
          <a:xfrm>
            <a:off x="10967617" y="3161032"/>
            <a:ext cx="1104059"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00" b="1" i="0" dirty="0">
                <a:effectLst/>
              </a:rPr>
              <a:t>LSTM</a:t>
            </a:r>
            <a:endParaRPr lang="en-US" b="1" dirty="0"/>
          </a:p>
        </p:txBody>
      </p:sp>
      <p:sp>
        <p:nvSpPr>
          <p:cNvPr id="15" name="TextBox 14">
            <a:extLst>
              <a:ext uri="{FF2B5EF4-FFF2-40B4-BE49-F238E27FC236}">
                <a16:creationId xmlns:a16="http://schemas.microsoft.com/office/drawing/2014/main" id="{D009191C-E9D7-483E-B5A6-A8E39CF4FD78}"/>
              </a:ext>
            </a:extLst>
          </p:cNvPr>
          <p:cNvSpPr txBox="1"/>
          <p:nvPr/>
        </p:nvSpPr>
        <p:spPr>
          <a:xfrm>
            <a:off x="2101069" y="4188768"/>
            <a:ext cx="9130694" cy="2062103"/>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ü"/>
            </a:pPr>
            <a:r>
              <a:rPr lang="en-US" sz="1600" i="0" dirty="0">
                <a:effectLst/>
              </a:rPr>
              <a:t>LSTM has an overall better performance based on the "evaluation" table</a:t>
            </a:r>
          </a:p>
          <a:p>
            <a:pPr marL="285750" indent="-285750" algn="l">
              <a:buFont typeface="Wingdings" panose="05000000000000000000" pitchFamily="2" charset="2"/>
              <a:buChar char="ü"/>
            </a:pPr>
            <a:endParaRPr lang="en-US" sz="1600" i="0" dirty="0">
              <a:effectLst/>
            </a:endParaRPr>
          </a:p>
          <a:p>
            <a:pPr marL="285750" indent="-285750" algn="l">
              <a:buFont typeface="Wingdings" panose="05000000000000000000" pitchFamily="2" charset="2"/>
              <a:buChar char="ü"/>
            </a:pPr>
            <a:r>
              <a:rPr lang="en-US" sz="1600" i="0" dirty="0">
                <a:effectLst/>
              </a:rPr>
              <a:t>LSTM can deal with nonlinear problems (spikes are well captured in LSTM), in this case, the extreme weather events and holidays</a:t>
            </a:r>
          </a:p>
          <a:p>
            <a:pPr marL="285750" indent="-285750" algn="l">
              <a:buFont typeface="Wingdings" panose="05000000000000000000" pitchFamily="2" charset="2"/>
              <a:buChar char="ü"/>
            </a:pPr>
            <a:endParaRPr lang="en-US" sz="1600" i="0" dirty="0">
              <a:effectLst/>
            </a:endParaRPr>
          </a:p>
          <a:p>
            <a:pPr marL="285750" indent="-285750" algn="l">
              <a:buFont typeface="Wingdings" panose="05000000000000000000" pitchFamily="2" charset="2"/>
              <a:buChar char="ü"/>
            </a:pPr>
            <a:r>
              <a:rPr lang="en-US" sz="1600" i="0" dirty="0">
                <a:effectLst/>
              </a:rPr>
              <a:t>LSTM gives a narrower confidence interval</a:t>
            </a:r>
          </a:p>
          <a:p>
            <a:pPr marL="285750" indent="-285750" algn="l">
              <a:buFont typeface="Wingdings" panose="05000000000000000000" pitchFamily="2" charset="2"/>
              <a:buChar char="ü"/>
            </a:pPr>
            <a:endParaRPr lang="en-US" sz="1600" i="0" dirty="0">
              <a:effectLst/>
            </a:endParaRPr>
          </a:p>
          <a:p>
            <a:pPr marL="285750" indent="-285750" algn="l">
              <a:buFont typeface="Wingdings" panose="05000000000000000000" pitchFamily="2" charset="2"/>
              <a:buChar char="ü"/>
            </a:pPr>
            <a:r>
              <a:rPr lang="en-US" sz="1600" i="0" dirty="0">
                <a:effectLst/>
              </a:rPr>
              <a:t>LSTM is best for long-term predictions</a:t>
            </a:r>
          </a:p>
        </p:txBody>
      </p:sp>
    </p:spTree>
    <p:extLst>
      <p:ext uri="{BB962C8B-B14F-4D97-AF65-F5344CB8AC3E}">
        <p14:creationId xmlns:p14="http://schemas.microsoft.com/office/powerpoint/2010/main" val="2210144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991D5-E652-49D4-9FB5-E27B5D0A3440}"/>
              </a:ext>
            </a:extLst>
          </p:cNvPr>
          <p:cNvSpPr txBox="1"/>
          <p:nvPr/>
        </p:nvSpPr>
        <p:spPr>
          <a:xfrm>
            <a:off x="5846475" y="770189"/>
            <a:ext cx="5385288" cy="523220"/>
          </a:xfrm>
          <a:prstGeom prst="rect">
            <a:avLst/>
          </a:prstGeom>
          <a:noFill/>
        </p:spPr>
        <p:txBody>
          <a:bodyPr wrap="square" rtlCol="0">
            <a:spAutoFit/>
          </a:bodyPr>
          <a:lstStyle/>
          <a:p>
            <a:r>
              <a:rPr lang="en-US" sz="2800" b="1" dirty="0"/>
              <a:t>FUTURE WORK</a:t>
            </a:r>
          </a:p>
        </p:txBody>
      </p:sp>
      <p:sp>
        <p:nvSpPr>
          <p:cNvPr id="5" name="TextBox 4">
            <a:extLst>
              <a:ext uri="{FF2B5EF4-FFF2-40B4-BE49-F238E27FC236}">
                <a16:creationId xmlns:a16="http://schemas.microsoft.com/office/drawing/2014/main" id="{C185707A-1586-48FC-BC68-F81A409FE33B}"/>
              </a:ext>
            </a:extLst>
          </p:cNvPr>
          <p:cNvSpPr txBox="1"/>
          <p:nvPr/>
        </p:nvSpPr>
        <p:spPr>
          <a:xfrm>
            <a:off x="6148926" y="1293409"/>
            <a:ext cx="7482254" cy="338554"/>
          </a:xfrm>
          <a:prstGeom prst="rect">
            <a:avLst/>
          </a:prstGeom>
          <a:noFill/>
        </p:spPr>
        <p:txBody>
          <a:bodyPr wrap="square" rtlCol="0">
            <a:spAutoFit/>
          </a:bodyPr>
          <a:lstStyle/>
          <a:p>
            <a:r>
              <a:rPr lang="en-US" sz="1600" b="0" i="0" dirty="0">
                <a:effectLst/>
              </a:rPr>
              <a:t>Something that </a:t>
            </a:r>
            <a:r>
              <a:rPr lang="en-US" sz="1600" dirty="0"/>
              <a:t>are </a:t>
            </a:r>
            <a:r>
              <a:rPr lang="en-US" sz="1600" b="0" i="0" dirty="0">
                <a:effectLst/>
              </a:rPr>
              <a:t>not included in the present work</a:t>
            </a:r>
            <a:endParaRPr lang="en-US" sz="1600" b="1" dirty="0"/>
          </a:p>
        </p:txBody>
      </p:sp>
      <p:sp>
        <p:nvSpPr>
          <p:cNvPr id="9" name="TextBox 8">
            <a:extLst>
              <a:ext uri="{FF2B5EF4-FFF2-40B4-BE49-F238E27FC236}">
                <a16:creationId xmlns:a16="http://schemas.microsoft.com/office/drawing/2014/main" id="{B8C58FC0-3E10-4531-8119-96DE5CBA9D37}"/>
              </a:ext>
            </a:extLst>
          </p:cNvPr>
          <p:cNvSpPr txBox="1"/>
          <p:nvPr/>
        </p:nvSpPr>
        <p:spPr>
          <a:xfrm>
            <a:off x="1610629" y="2522866"/>
            <a:ext cx="8315886" cy="1815882"/>
          </a:xfrm>
          <a:prstGeom prst="rect">
            <a:avLst/>
          </a:prstGeom>
          <a:noFill/>
        </p:spPr>
        <p:txBody>
          <a:bodyPr wrap="square" rtlCol="0">
            <a:spAutoFit/>
          </a:bodyPr>
          <a:lstStyle/>
          <a:p>
            <a:pPr marL="285750" indent="-285750">
              <a:buFont typeface="Wingdings" panose="05000000000000000000" pitchFamily="2" charset="2"/>
              <a:buChar char="q"/>
            </a:pPr>
            <a:r>
              <a:rPr lang="en-US" sz="1600" i="0" dirty="0">
                <a:effectLst/>
              </a:rPr>
              <a:t>For SARIMA, </a:t>
            </a:r>
            <a:r>
              <a:rPr lang="en-US" sz="1600" i="0" dirty="0" err="1">
                <a:effectLst/>
              </a:rPr>
              <a:t>gridsearch</a:t>
            </a:r>
            <a:r>
              <a:rPr lang="en-US" sz="1600" i="0" dirty="0">
                <a:effectLst/>
              </a:rPr>
              <a:t> and AIC value should be used to find the best (d, p, q). This technique can be used for batch processing</a:t>
            </a:r>
          </a:p>
          <a:p>
            <a:pPr marL="285750" indent="-285750">
              <a:buFont typeface="Wingdings" panose="05000000000000000000" pitchFamily="2" charset="2"/>
              <a:buChar char="q"/>
            </a:pPr>
            <a:endParaRPr lang="en-US" sz="1600" i="0" dirty="0">
              <a:effectLst/>
            </a:endParaRPr>
          </a:p>
          <a:p>
            <a:pPr marL="285750" indent="-285750">
              <a:buFont typeface="Wingdings" panose="05000000000000000000" pitchFamily="2" charset="2"/>
              <a:buChar char="q"/>
            </a:pPr>
            <a:r>
              <a:rPr lang="en-US" sz="1600" dirty="0"/>
              <a:t>LSTM has more possible structures to fit the model, cross-validation is necessary to obtain a more robust result</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Other nonlinear factors may also affect the performance, e.g., policy, price…</a:t>
            </a:r>
          </a:p>
        </p:txBody>
      </p:sp>
    </p:spTree>
    <p:extLst>
      <p:ext uri="{BB962C8B-B14F-4D97-AF65-F5344CB8AC3E}">
        <p14:creationId xmlns:p14="http://schemas.microsoft.com/office/powerpoint/2010/main" val="3408554112"/>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1002</TotalTime>
  <Words>545</Words>
  <Application>Microsoft Office PowerPoint</Application>
  <PresentationFormat>Widescreen</PresentationFormat>
  <Paragraphs>75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Helvetica Neue</vt:lpstr>
      <vt:lpstr>Arial</vt:lpstr>
      <vt:lpstr>Century Gothic</vt:lpstr>
      <vt:lpstr>Wingdings</vt:lpstr>
      <vt:lpstr>Vapor Trail</vt:lpstr>
      <vt:lpstr>Time series forecasting USING LSTM AND SARIMA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forecasting USING LSTM AND SARIMA</dc:title>
  <dc:creator>Liu, Guangpeng</dc:creator>
  <cp:lastModifiedBy>Guangpeng Liu</cp:lastModifiedBy>
  <cp:revision>38</cp:revision>
  <dcterms:created xsi:type="dcterms:W3CDTF">2020-12-06T02:31:33Z</dcterms:created>
  <dcterms:modified xsi:type="dcterms:W3CDTF">2020-12-07T20:10:23Z</dcterms:modified>
</cp:coreProperties>
</file>